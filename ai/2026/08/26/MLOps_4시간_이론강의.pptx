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995" autoAdjust="0"/>
  </p:normalViewPr>
  <p:slideViewPr>
    <p:cSldViewPr snapToGrid="0" snapToObjects="1">
      <p:cViewPr varScale="1">
        <p:scale>
          <a:sx n="72" d="100"/>
          <a:sy n="72" d="100"/>
        </p:scale>
        <p:origin x="66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076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23843"/>
            <a:ext cx="1060704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Aptos"/>
              </a:rPr>
              <a:t>MLOps</a:t>
            </a:r>
            <a:endParaRPr sz="3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4672" y="1863477"/>
            <a:ext cx="100584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데이터 준비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학습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실험 관리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배포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모니터링</a:t>
            </a:r>
            <a:r>
              <a:rPr lang="en-US" altLang="ko-KR" sz="2000" dirty="0">
                <a:solidFill>
                  <a:schemeClr val="bg1"/>
                </a:solidFill>
              </a:rPr>
              <a:t>, </a:t>
            </a:r>
            <a:r>
              <a:rPr lang="ko-KR" altLang="en-US" sz="2000" dirty="0">
                <a:solidFill>
                  <a:schemeClr val="bg1"/>
                </a:solidFill>
              </a:rPr>
              <a:t>재학습까지의 생명주기로 자동 연결된 하나의 분석</a:t>
            </a:r>
            <a:r>
              <a:rPr lang="en-US" altLang="ko-KR" sz="2000" dirty="0">
                <a:solidFill>
                  <a:schemeClr val="bg1"/>
                </a:solidFill>
              </a:rPr>
              <a:t>/</a:t>
            </a:r>
            <a:r>
              <a:rPr lang="ko-KR" altLang="en-US" sz="2000" dirty="0">
                <a:solidFill>
                  <a:schemeClr val="bg1"/>
                </a:solidFill>
              </a:rPr>
              <a:t>운영 프로세스</a:t>
            </a:r>
            <a:endParaRPr sz="20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3703320"/>
            <a:ext cx="1600200" cy="685800"/>
          </a:xfrm>
          <a:prstGeom prst="roundRect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13048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6" name="Chevron 5"/>
          <p:cNvSpPr/>
          <p:nvPr/>
        </p:nvSpPr>
        <p:spPr>
          <a:xfrm>
            <a:off x="2633472" y="3867912"/>
            <a:ext cx="274320" cy="347472"/>
          </a:xfrm>
          <a:prstGeom prst="chevron">
            <a:avLst/>
          </a:prstGeom>
          <a:solidFill>
            <a:srgbClr val="AA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17520" y="3703320"/>
            <a:ext cx="1600200" cy="685800"/>
          </a:xfrm>
          <a:prstGeom prst="round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3813048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Train</a:t>
            </a:r>
          </a:p>
        </p:txBody>
      </p:sp>
      <p:sp>
        <p:nvSpPr>
          <p:cNvPr id="9" name="Chevron 8"/>
          <p:cNvSpPr/>
          <p:nvPr/>
        </p:nvSpPr>
        <p:spPr>
          <a:xfrm>
            <a:off x="4736592" y="3867912"/>
            <a:ext cx="274320" cy="347472"/>
          </a:xfrm>
          <a:prstGeom prst="chevron">
            <a:avLst/>
          </a:prstGeom>
          <a:solidFill>
            <a:srgbClr val="AA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20640" y="3703320"/>
            <a:ext cx="1600200" cy="685800"/>
          </a:xfrm>
          <a:prstGeom prst="roundRect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3834345"/>
            <a:ext cx="1600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500" b="1" dirty="0">
                <a:solidFill>
                  <a:srgbClr val="FFFFFF"/>
                </a:solidFill>
                <a:latin typeface="Aptos"/>
              </a:rPr>
              <a:t>Experiment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6839712" y="3867912"/>
            <a:ext cx="274320" cy="347472"/>
          </a:xfrm>
          <a:prstGeom prst="chevron">
            <a:avLst/>
          </a:prstGeom>
          <a:solidFill>
            <a:srgbClr val="AA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223759" y="3703320"/>
            <a:ext cx="1600200" cy="685800"/>
          </a:xfrm>
          <a:prstGeom prst="roundRect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59" y="3813048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5" name="Chevron 14"/>
          <p:cNvSpPr/>
          <p:nvPr/>
        </p:nvSpPr>
        <p:spPr>
          <a:xfrm>
            <a:off x="8942832" y="3867912"/>
            <a:ext cx="274320" cy="347472"/>
          </a:xfrm>
          <a:prstGeom prst="chevron">
            <a:avLst/>
          </a:prstGeom>
          <a:solidFill>
            <a:srgbClr val="AAB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26880" y="3703320"/>
            <a:ext cx="1600200" cy="685800"/>
          </a:xfrm>
          <a:prstGeom prst="roundRect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3813048"/>
            <a:ext cx="1600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225E0B0-2E42-4828-A3EF-3C8BCB49543A}"/>
              </a:ext>
            </a:extLst>
          </p:cNvPr>
          <p:cNvCxnSpPr>
            <a:stCxn id="16" idx="2"/>
            <a:endCxn id="7" idx="2"/>
          </p:cNvCxnSpPr>
          <p:nvPr/>
        </p:nvCxnSpPr>
        <p:spPr>
          <a:xfrm rot="5400000">
            <a:off x="6972300" y="1234440"/>
            <a:ext cx="12700" cy="6309360"/>
          </a:xfrm>
          <a:prstGeom prst="bentConnector3">
            <a:avLst>
              <a:gd name="adj1" fmla="val 5928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MLOps란 무엇인가?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dirty="0">
                <a:solidFill>
                  <a:srgbClr val="606C7D"/>
                </a:solidFill>
                <a:latin typeface="Aptos"/>
              </a:rPr>
              <a:t>ML + DevOps + Data </a:t>
            </a:r>
            <a:r>
              <a:rPr sz="1150" b="0" dirty="0" err="1">
                <a:solidFill>
                  <a:srgbClr val="606C7D"/>
                </a:solidFill>
                <a:latin typeface="Aptos"/>
              </a:rPr>
              <a:t>Engineering을</a:t>
            </a:r>
            <a:r>
              <a:rPr sz="1150" b="0" dirty="0">
                <a:solidFill>
                  <a:srgbClr val="606C7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606C7D"/>
                </a:solidFill>
                <a:latin typeface="Aptos"/>
              </a:rPr>
              <a:t>연결하는</a:t>
            </a:r>
            <a:r>
              <a:rPr sz="1150" b="0" dirty="0">
                <a:solidFill>
                  <a:srgbClr val="606C7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606C7D"/>
                </a:solidFill>
                <a:latin typeface="Aptos"/>
              </a:rPr>
              <a:t>운영</a:t>
            </a:r>
            <a:r>
              <a:rPr sz="1150" b="0" dirty="0">
                <a:solidFill>
                  <a:srgbClr val="606C7D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606C7D"/>
                </a:solidFill>
                <a:latin typeface="Aptos"/>
              </a:rPr>
              <a:t>체계</a:t>
            </a:r>
            <a:endParaRPr sz="1150" b="0" dirty="0">
              <a:solidFill>
                <a:srgbClr val="606C7D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데이터에서 패턴을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성능 지표를 개선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실험과 모델 중심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안정적인 서비스 운영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자동화·배포·복구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모니터링과 책임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왜 MLOps가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문제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노트북에서는 잘 되는데 운영 서버에서는 재현되지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문제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어떤 데이터와 파라미터로 만든 모델인지 추적하기 어렵다.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문제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모델을 배포한 뒤 성능이 떨어져도 늦게 발견한다.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문제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재학습·검증·배포가 수작업이라 실수와 지연이 반복된다.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문제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개발팀과 운영팀의 책임 경계가 불분명하다.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DevOps와 MLOps의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주요 변경 대상: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63658"/>
            <a:ext cx="4343400" cy="312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 dirty="0" err="1">
                <a:solidFill>
                  <a:srgbClr val="212730"/>
                </a:solidFill>
                <a:latin typeface="Aptos"/>
              </a:rPr>
              <a:t>테스트</a:t>
            </a:r>
            <a:r>
              <a:rPr sz="1430" b="0" dirty="0">
                <a:solidFill>
                  <a:srgbClr val="212730"/>
                </a:solidFill>
                <a:latin typeface="Aptos"/>
              </a:rPr>
              <a:t> </a:t>
            </a:r>
            <a:r>
              <a:rPr sz="1430" b="0" dirty="0" err="1">
                <a:solidFill>
                  <a:srgbClr val="212730"/>
                </a:solidFill>
                <a:latin typeface="Aptos"/>
              </a:rPr>
              <a:t>결과가</a:t>
            </a:r>
            <a:r>
              <a:rPr sz="1430" b="0" dirty="0">
                <a:solidFill>
                  <a:srgbClr val="212730"/>
                </a:solidFill>
                <a:latin typeface="Aptos"/>
              </a:rPr>
              <a:t> </a:t>
            </a:r>
            <a:r>
              <a:rPr lang="ko-KR" altLang="en-US" sz="1430" b="0" dirty="0">
                <a:solidFill>
                  <a:srgbClr val="212730"/>
                </a:solidFill>
                <a:latin typeface="Aptos"/>
              </a:rPr>
              <a:t>비교적 명확함</a:t>
            </a:r>
            <a:endParaRPr sz="1430" b="0" dirty="0">
              <a:solidFill>
                <a:srgbClr val="21273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배포 후 기능·성능 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CI/CD가 핵심 자동화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MLOps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코드 + 데이터 + 모델이 함께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학습 결과에 확률성과 변동 존재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서비스 + 데이터/모델 품질 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 dirty="0">
                <a:solidFill>
                  <a:srgbClr val="212730"/>
                </a:solidFill>
                <a:latin typeface="Aptos"/>
              </a:rPr>
              <a:t>CI/CD + Continuous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 시스템의 전체 생명주기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비즈니스 목표와
평가지표 정의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데이터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수집·검증·가공
피처 생성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학습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실험·튜닝·평가
모델 생성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검증된 모델을
서비스에 반영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모니터링·재학습
지속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7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66719A9E-D323-4751-8CB4-064B19358EA5}"/>
              </a:ext>
            </a:extLst>
          </p:cNvPr>
          <p:cNvCxnSpPr>
            <a:stCxn id="30" idx="2"/>
            <a:endCxn id="12" idx="2"/>
          </p:cNvCxnSpPr>
          <p:nvPr/>
        </p:nvCxnSpPr>
        <p:spPr>
          <a:xfrm rot="5400000">
            <a:off x="7203643" y="1089051"/>
            <a:ext cx="12700" cy="6600139"/>
          </a:xfrm>
          <a:prstGeom prst="bentConnector3">
            <a:avLst>
              <a:gd name="adj1" fmla="val 564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 시스템의 숨은 복잡성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모델 코드는 전체 시스템의 일부에 불과하다.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데이터 수집·검증·피처 처리·서빙 코드가 더 큰 비중을 차지할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외부 데이터 의존성과 스키마 변경이 장애 원인이 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562198"/>
            <a:ext cx="9875520" cy="3462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0000"/>
                </a:solidFill>
                <a:latin typeface="Aptos"/>
              </a:rPr>
              <a:t>학습과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서빙에서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피처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계산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방식이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달라지면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Training-Serving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Skew가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 </a:t>
            </a:r>
            <a:r>
              <a:rPr sz="1650" b="1" dirty="0" err="1">
                <a:solidFill>
                  <a:srgbClr val="FF0000"/>
                </a:solidFill>
                <a:latin typeface="Aptos"/>
              </a:rPr>
              <a:t>발생한다</a:t>
            </a:r>
            <a:r>
              <a:rPr sz="1650" b="1" dirty="0">
                <a:solidFill>
                  <a:srgbClr val="FF0000"/>
                </a:solidFill>
                <a:latin typeface="Apto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모델 성능뿐 아니라 지연시간, 비용, 안정성까지 함께 최적화해야 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94960"/>
            <a:ext cx="10424160" cy="658368"/>
          </a:xfrm>
          <a:prstGeom prst="roundRect">
            <a:avLst/>
          </a:prstGeom>
          <a:solidFill>
            <a:srgbClr val="E8F0FF"/>
          </a:solidFill>
          <a:ln>
            <a:solidFill>
              <a:srgbClr val="BE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04688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>
                <a:solidFill>
                  <a:srgbClr val="14213D"/>
                </a:solidFill>
                <a:latin typeface="Aptos"/>
              </a:rPr>
              <a:t>MLOps는 '모델 관리'가 아니라 'ML 시스템 관리'에 가깝다.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8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4FC4830-0665-403B-BBB7-F2648E569FE3}"/>
              </a:ext>
            </a:extLst>
          </p:cNvPr>
          <p:cNvSpPr/>
          <p:nvPr/>
        </p:nvSpPr>
        <p:spPr>
          <a:xfrm>
            <a:off x="170688" y="6348460"/>
            <a:ext cx="117896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* </a:t>
            </a:r>
            <a:r>
              <a:rPr lang="en-US" altLang="ko-KR" sz="1200" dirty="0">
                <a:solidFill>
                  <a:srgbClr val="212730"/>
                </a:solidFill>
                <a:latin typeface="Aptos"/>
              </a:rPr>
              <a:t>Training-Serving Skew  : </a:t>
            </a:r>
            <a:r>
              <a:rPr lang="ko-KR" altLang="en-US" sz="1200" dirty="0" err="1"/>
              <a:t>머신러닝</a:t>
            </a:r>
            <a:r>
              <a:rPr lang="ko-KR" altLang="en-US" sz="1200" dirty="0"/>
              <a:t> 모델을 학습할 때 사용한 데이터의 특성이나 분포가</a:t>
            </a:r>
            <a:r>
              <a:rPr lang="en-US" altLang="ko-KR" sz="1200" dirty="0"/>
              <a:t>, </a:t>
            </a:r>
            <a:r>
              <a:rPr lang="ko-KR" altLang="en-US" sz="1200" dirty="0"/>
              <a:t>실제 서비스</a:t>
            </a:r>
            <a:r>
              <a:rPr lang="en-US" altLang="ko-KR" sz="1200" dirty="0"/>
              <a:t>(</a:t>
            </a:r>
            <a:r>
              <a:rPr lang="ko-KR" altLang="en-US" sz="1200" dirty="0"/>
              <a:t>서빙</a:t>
            </a:r>
            <a:r>
              <a:rPr lang="en-US" altLang="ko-KR" sz="1200" dirty="0"/>
              <a:t>) </a:t>
            </a:r>
            <a:r>
              <a:rPr lang="ko-KR" altLang="en-US" sz="1200" dirty="0"/>
              <a:t>환경에서 입력되는 데이터와 달라져 모델의 성능이 떨어지는 현상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 성숙도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22500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956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Level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수동 학습·수동 배포
개인 중심</a:t>
            </a:r>
          </a:p>
        </p:txBody>
      </p:sp>
      <p:sp>
        <p:nvSpPr>
          <p:cNvPr id="11" name="Chevron 10"/>
          <p:cNvSpPr/>
          <p:nvPr/>
        </p:nvSpPr>
        <p:spPr>
          <a:xfrm>
            <a:off x="329869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35858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72558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5711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Level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학습 파이프라인 자동화
실험 추적</a:t>
            </a:r>
          </a:p>
        </p:txBody>
      </p:sp>
      <p:sp>
        <p:nvSpPr>
          <p:cNvPr id="17" name="Chevron 16"/>
          <p:cNvSpPr/>
          <p:nvPr/>
        </p:nvSpPr>
        <p:spPr>
          <a:xfrm>
            <a:off x="604875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85916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22616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76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Level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7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CI/CD/CT 연결
자동 검증·배포</a:t>
            </a:r>
          </a:p>
        </p:txBody>
      </p:sp>
      <p:sp>
        <p:nvSpPr>
          <p:cNvPr id="23" name="Chevron 22"/>
          <p:cNvSpPr/>
          <p:nvPr/>
        </p:nvSpPr>
        <p:spPr>
          <a:xfrm>
            <a:off x="8798813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35974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72675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4582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3134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Level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0565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플랫폼화·표준화
Self-Service 운영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사례: 이탈 예측 모델을 운영한다면?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학습 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최근 12개월 고객 데이터를 이용해 모델 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배포 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검증을 통과한 모델을 API 또는 배치로 배포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1개월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상품 정책과 고객 행동이 변하면서 입력 분포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운영 이슈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정확도 저하, 특정 고객군 편향, 응답 지연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MLOps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드리프트 감지 → 재학습 → 검증 → 단계적 재배포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67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재현성과 추적성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데이터 · 코드 · 환경 · 실험 · 모델을 함께 관리한다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재현성의 5가지 구성요소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학습 코드와 전처리 로직의 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원본 데이터와 학습 데이터셋의 버전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Python·CUDA·라이브러리 의존성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하이퍼파라미터와 실행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학습된 모델, 평가 결과, 그래프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코드 버전관리: Git을 넘어서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브랜치 전략은 모델 개발과 서비스 코드의 변경 흐름을 명확하게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Pull Request와 코드 리뷰로 전처리·평가 로직의 오류를 줄인다.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태그 또는 커밋 ID를 모델 메타데이터와 연결한다.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483863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학습 스크립트뿐 아니라 설정 파일과 파이프라인 정의도 버전 관리한다.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대용량 모델·데이터 파일은 Git 저장소에 직접 넣지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데이터 버전관리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왜 필요한가?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학습 결과를 다시 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데이터 변경 영향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잘못된 데이터셋으로 롤백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감사·규제 대응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관리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스냅샷/파티션 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객체 저장소 + 메타데이터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해시·manifest 기반 추적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DVC/LakeFS 계열 도구 활용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데이터 검증이 파이프라인의 첫 번째 테스트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컬럼명, 타입, 필수값, 범위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결측치, 중복, 이상치, 비정상 값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평균·분산·범주 비율 등 분포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Freshness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데이터가 정해진 시간 안에 도착했는지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Leakage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미래 정보나 정답 정보가 피처에 섞이지 않았는지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Feature Store의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22500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956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원천 데이터를
수집</a:t>
            </a:r>
          </a:p>
        </p:txBody>
      </p:sp>
      <p:sp>
        <p:nvSpPr>
          <p:cNvPr id="11" name="Chevron 10"/>
          <p:cNvSpPr/>
          <p:nvPr/>
        </p:nvSpPr>
        <p:spPr>
          <a:xfrm>
            <a:off x="329869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35858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72558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5711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공통 피처 로직을
정의</a:t>
            </a:r>
          </a:p>
        </p:txBody>
      </p:sp>
      <p:sp>
        <p:nvSpPr>
          <p:cNvPr id="17" name="Chevron 16"/>
          <p:cNvSpPr/>
          <p:nvPr/>
        </p:nvSpPr>
        <p:spPr>
          <a:xfrm>
            <a:off x="604875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85916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22616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76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Offline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7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학습용 과거 피처를
저장</a:t>
            </a:r>
          </a:p>
        </p:txBody>
      </p:sp>
      <p:sp>
        <p:nvSpPr>
          <p:cNvPr id="23" name="Chevron 22"/>
          <p:cNvSpPr/>
          <p:nvPr/>
        </p:nvSpPr>
        <p:spPr>
          <a:xfrm>
            <a:off x="8798813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35974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72675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4582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3134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Online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0565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실시간 예측용 피처를
저지연 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실험 추적: 무엇을 기록해야 하나?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learning rate, batch size, epoch, 모델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Accuracy, F1, AUC, RMSE 등 평가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모델 파일, confusion matrix, 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코드 버전, 데이터 버전, 실행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Owner/Time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누가 언제 어떤 목적으로 실행했는지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Model Registry: 모델의 승격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학습 완료
후보 모델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자동·수동 검증
통과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운영과 유사한
환경에서 검증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실서비스에
사용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Archived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교체된 모델
보관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Lineage: 모델 하나를 끝까지 추적하기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Dataset v17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학습 데이터
버전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Git a31f2c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코드
커밋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Run #248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실험 실행
기록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Model v12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모델
아티팩트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Endpoint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운영
배포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실행 환경을 고정하는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문제가 되는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개발 PC와 서버의 라이브러리 버전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CUDA·드라이버 불일치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OS 차이로 인한 동작 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의존성 업데이트로 재현 실패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대표적 대응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requirements/lock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Conda/venv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Docker 이미지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이미지 태그·digest 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6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자동화와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Pipeline · CI/CD/CT · Serving · Release Strategy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 파이프라인의 기본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64158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731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데이터 수집</a:t>
            </a:r>
          </a:p>
        </p:txBody>
      </p:sp>
      <p:sp>
        <p:nvSpPr>
          <p:cNvPr id="11" name="Chevron 10"/>
          <p:cNvSpPr/>
          <p:nvPr/>
        </p:nvSpPr>
        <p:spPr>
          <a:xfrm>
            <a:off x="238201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19172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7530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068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6332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3764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품질 검증</a:t>
            </a:r>
          </a:p>
        </p:txBody>
      </p:sp>
      <p:sp>
        <p:nvSpPr>
          <p:cNvPr id="17" name="Chevron 16"/>
          <p:cNvSpPr/>
          <p:nvPr/>
        </p:nvSpPr>
        <p:spPr>
          <a:xfrm>
            <a:off x="4215384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2544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0901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040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전처리·피처</a:t>
            </a:r>
          </a:p>
        </p:txBody>
      </p:sp>
      <p:sp>
        <p:nvSpPr>
          <p:cNvPr id="23" name="Chevron 22"/>
          <p:cNvSpPr/>
          <p:nvPr/>
        </p:nvSpPr>
        <p:spPr>
          <a:xfrm>
            <a:off x="604875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85916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64273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7425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7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모델 학습</a:t>
            </a:r>
          </a:p>
        </p:txBody>
      </p:sp>
      <p:sp>
        <p:nvSpPr>
          <p:cNvPr id="29" name="Chevron 28"/>
          <p:cNvSpPr/>
          <p:nvPr/>
        </p:nvSpPr>
        <p:spPr>
          <a:xfrm>
            <a:off x="788212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19288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97646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079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성능 평가</a:t>
            </a:r>
          </a:p>
        </p:txBody>
      </p:sp>
      <p:sp>
        <p:nvSpPr>
          <p:cNvPr id="35" name="Chevron 34"/>
          <p:cNvSpPr/>
          <p:nvPr/>
        </p:nvSpPr>
        <p:spPr>
          <a:xfrm>
            <a:off x="971549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52659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431017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04169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9819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Register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7251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모델 등록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Orchestration이 필요한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여러 작업의 실행 순서와 의존성을 관리한다.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실패한 단계의 재시도와 알림을 자동화한다.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스케줄 또는 이벤트를 기준으로 파이프라인을 실행한다.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483863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CPU/GPU 등 필요한 자원을 작업별로 할당한다.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실행 로그와 상태를 중앙에서 확인한다.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94960"/>
            <a:ext cx="10424160" cy="658368"/>
          </a:xfrm>
          <a:prstGeom prst="roundRect">
            <a:avLst/>
          </a:prstGeom>
          <a:solidFill>
            <a:srgbClr val="E8F0FF"/>
          </a:solidFill>
          <a:ln>
            <a:solidFill>
              <a:srgbClr val="BE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504688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>
                <a:solidFill>
                  <a:srgbClr val="14213D"/>
                </a:solidFill>
                <a:latin typeface="Aptos"/>
              </a:rPr>
              <a:t>예: Airflow, Kubeflow Pipelines, Prefect, Dagster 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CI: ML 코드 변경을 안전하게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Unit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전처리 함수, 피처 계산, 평가 함수 테스트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Data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스키마와 데이터 품질 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Integration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스토리지·DB·API 연결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Model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최소 성능 기준과 회귀 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통과한 코드로 컨테이너/패키지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CD: 검증된 모델을 운영으로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모델 + 코드
패키징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운영 유사 환경
테스트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자동/수동
승인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서비스에
반영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Rollback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문제 발생 시
이전 버전 복구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CT: Continuous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일정·데이터 도착
드리프트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최신 데이터로
재학습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기준 모델과
비교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Promote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승격 조건
확인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Redeploy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새 모델
배포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모델 서빙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Batch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대량 데이터를 주기적으로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실시간 응답이 필요하지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비용 효율적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예: 야간 고객 점수 계산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Online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요청마다 즉시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낮은 지연시간 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API·마이크로서비스 형태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예: 추천·사기 탐지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온라인 추론 요청의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64158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731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예측 요청</a:t>
            </a:r>
          </a:p>
        </p:txBody>
      </p:sp>
      <p:sp>
        <p:nvSpPr>
          <p:cNvPr id="11" name="Chevron 10"/>
          <p:cNvSpPr/>
          <p:nvPr/>
        </p:nvSpPr>
        <p:spPr>
          <a:xfrm>
            <a:off x="238201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19172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7530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068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6332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3764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인증·검증</a:t>
            </a:r>
          </a:p>
        </p:txBody>
      </p:sp>
      <p:sp>
        <p:nvSpPr>
          <p:cNvPr id="17" name="Chevron 16"/>
          <p:cNvSpPr/>
          <p:nvPr/>
        </p:nvSpPr>
        <p:spPr>
          <a:xfrm>
            <a:off x="4215384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2544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0901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040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온라인 피처 조회</a:t>
            </a:r>
          </a:p>
        </p:txBody>
      </p:sp>
      <p:sp>
        <p:nvSpPr>
          <p:cNvPr id="23" name="Chevron 22"/>
          <p:cNvSpPr/>
          <p:nvPr/>
        </p:nvSpPr>
        <p:spPr>
          <a:xfrm>
            <a:off x="604875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85916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64273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7425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7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추론 실행</a:t>
            </a:r>
          </a:p>
        </p:txBody>
      </p:sp>
      <p:sp>
        <p:nvSpPr>
          <p:cNvPr id="29" name="Chevron 28"/>
          <p:cNvSpPr/>
          <p:nvPr/>
        </p:nvSpPr>
        <p:spPr>
          <a:xfrm>
            <a:off x="788212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19288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97646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079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결과 반환</a:t>
            </a:r>
          </a:p>
        </p:txBody>
      </p:sp>
      <p:sp>
        <p:nvSpPr>
          <p:cNvPr id="35" name="Chevron 34"/>
          <p:cNvSpPr/>
          <p:nvPr/>
        </p:nvSpPr>
        <p:spPr>
          <a:xfrm>
            <a:off x="971549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52659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431017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04169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9819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7251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입력·예측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안전한 모델 릴리스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Shadow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새 모델이 예측은 하지만 결과를 사용자에게 노출하지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Canary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일부 트래픽에만 새 모델을 적용해 위험을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A/B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사용자 그룹을 나누어 비즈니스 효과를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Blue/Green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구·신 환경을 병렬 운영하고 트래픽을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이상 발생 시 즉시 이전 모델로 복귀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컨테이너와 Kubernetes의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실행 환경 패키징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개발·운영 환경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이미지 단위 버전관리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배포 단위 표준화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Kubernetes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컨테이너 배치·스케일링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장애 시 자동 재시작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서비스 디스커버리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CPU/GPU 자원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57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운영과 지속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703320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Monitoring · Drift · Retraining · Governance · Cost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 모니터링의 4개 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CPU/GPU, 메모리, 오류율, 처리량, 지연시간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스키마, 결측치, 범위, 분포, 최신성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정확도, F1, AUC, calibration, 예측 분포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전환율, 매출, 이탈률, 운영 비용 등 실제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Drift의 종류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Data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입력 X의 분포가 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예: 연령·가격·트래픽 구성 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라벨 없이도 비교적 빠르게 탐지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PSI, KS, 거리 지표 등 활용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Concept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X와 정답 Y의 관계가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예: 사기 패턴 자체가 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실제 라벨 확보 후 확인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모델 성능 저하로 나타날 수 있음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운영 성능 측정의 어려움: 정답은 늦게 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예측 시점에는 실제 정답(label)을 모르는 경우가 많다.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대출 부도, 고객 이탈처럼 정답이 수주~수개월 뒤 확정될 수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초기에는 데이터 품질·예측 분포·드리프트를 proxy로 감시한다.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483863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라벨이 도착하면 실제 성능 지표를 다시 계산한다.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모니터링 설계 시 '라벨 지연 시간'을 반드시 고려한다.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재학습 정책을 설계하는 4가지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22500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956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매주·매월 등
정기 실행</a:t>
            </a:r>
          </a:p>
        </p:txBody>
      </p:sp>
      <p:sp>
        <p:nvSpPr>
          <p:cNvPr id="11" name="Chevron 10"/>
          <p:cNvSpPr/>
          <p:nvPr/>
        </p:nvSpPr>
        <p:spPr>
          <a:xfrm>
            <a:off x="329869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35858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72558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5711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8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새 라벨 데이터가
충분히 누적</a:t>
            </a:r>
          </a:p>
        </p:txBody>
      </p:sp>
      <p:sp>
        <p:nvSpPr>
          <p:cNvPr id="17" name="Chevron 16"/>
          <p:cNvSpPr/>
          <p:nvPr/>
        </p:nvSpPr>
        <p:spPr>
          <a:xfrm>
            <a:off x="604875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85916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22616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9576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3076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507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분포 변화가
임계치 초과</a:t>
            </a:r>
          </a:p>
        </p:txBody>
      </p:sp>
      <p:sp>
        <p:nvSpPr>
          <p:cNvPr id="23" name="Chevron 22"/>
          <p:cNvSpPr/>
          <p:nvPr/>
        </p:nvSpPr>
        <p:spPr>
          <a:xfrm>
            <a:off x="8798813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35974" y="1965960"/>
            <a:ext cx="2585465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72675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4582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3134" y="2286000"/>
            <a:ext cx="231114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0565" y="2880360"/>
            <a:ext cx="2256282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실제 성능이
기준 이하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Observability: 문제를 '발견'하고 '설명'하기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성능·지연·오류·드리프트를 수치로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요청, 모델 버전, 예측, 오류의 상세 기록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Traces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여러 서비스 사이 요청 흐름 추적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임계치 또는 이상 탐지 기반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운영자가 상태를 한눈에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모델 거버넌스와 책임성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모델 소유자와 승인 책임자를 명확히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학습 데이터의 출처와 사용 권한을 기록한다.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모델 카드에 목적, 제한사항, 평가 결과를 문서화한다.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483863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민감한 업무에서는 공정성·설명가능성·보안 검증을 추가한다.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운영 모델의 변경 이력과 승인 기록을 보존한다.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 비용 최적화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67D1"/>
                </a:solidFill>
                <a:latin typeface="Aptos"/>
              </a:rPr>
              <a:t>비용이 커지는 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GPU 학습 자원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대용량 데이터 저장·전송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실시간 추론 서버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과도한 로그·모니터링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480560"/>
          </a:xfrm>
          <a:prstGeom prst="roundRect">
            <a:avLst/>
          </a:prstGeom>
          <a:solidFill>
            <a:srgbClr val="FAFBFD"/>
          </a:solidFill>
          <a:ln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9691"/>
                </a:solidFill>
                <a:latin typeface="Aptos"/>
              </a:rPr>
              <a:t>최적화 방법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23160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23160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필요할 때만 GPU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36391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136391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캐시·증분 처리 활용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849624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49624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배치/온라인 방식 적절히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62856"/>
            <a:ext cx="228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9691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62856"/>
            <a:ext cx="4343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30" b="0">
                <a:solidFill>
                  <a:srgbClr val="212730"/>
                </a:solidFill>
                <a:latin typeface="Aptos"/>
              </a:rPr>
              <a:t>모델 경량화·오토스케일링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 참조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64158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3731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DB·Files·Stream</a:t>
            </a:r>
          </a:p>
        </p:txBody>
      </p:sp>
      <p:sp>
        <p:nvSpPr>
          <p:cNvPr id="11" name="Chevron 10"/>
          <p:cNvSpPr/>
          <p:nvPr/>
        </p:nvSpPr>
        <p:spPr>
          <a:xfrm>
            <a:off x="238201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19172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7530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068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6332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Data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3764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Lake/Warehouse
Validation</a:t>
            </a:r>
          </a:p>
        </p:txBody>
      </p:sp>
      <p:sp>
        <p:nvSpPr>
          <p:cNvPr id="17" name="Chevron 16"/>
          <p:cNvSpPr/>
          <p:nvPr/>
        </p:nvSpPr>
        <p:spPr>
          <a:xfrm>
            <a:off x="4215384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52544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30901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0405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ML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Feature·Train
Experiment</a:t>
            </a:r>
          </a:p>
        </p:txBody>
      </p:sp>
      <p:sp>
        <p:nvSpPr>
          <p:cNvPr id="23" name="Chevron 22"/>
          <p:cNvSpPr/>
          <p:nvPr/>
        </p:nvSpPr>
        <p:spPr>
          <a:xfrm>
            <a:off x="604875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85916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764273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37425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507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Model + Metadata</a:t>
            </a:r>
          </a:p>
        </p:txBody>
      </p:sp>
      <p:sp>
        <p:nvSpPr>
          <p:cNvPr id="29" name="Chevron 28"/>
          <p:cNvSpPr/>
          <p:nvPr/>
        </p:nvSpPr>
        <p:spPr>
          <a:xfrm>
            <a:off x="7882127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019288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97646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70798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Serving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Batch / API</a:t>
            </a:r>
          </a:p>
        </p:txBody>
      </p:sp>
      <p:sp>
        <p:nvSpPr>
          <p:cNvPr id="35" name="Chevron 34"/>
          <p:cNvSpPr/>
          <p:nvPr/>
        </p:nvSpPr>
        <p:spPr>
          <a:xfrm>
            <a:off x="971549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852659" y="1965960"/>
            <a:ext cx="1668780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431017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04169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9819" y="2286000"/>
            <a:ext cx="13944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Monitoring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7251" y="2880360"/>
            <a:ext cx="1339595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System·Data·Model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MLOps 도구는 역할별로 선택한다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Versioning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Git, DVC/LakeFS 계열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Experiment/Registry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MLflow, Weights &amp; Biases 계열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Airflow, Kubeflow, Prefect, Dagster 계열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Serving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FastAPI, KServe, Seldon, BentoML 계열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Prometheus/Grafana + ML 모니터링 도구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599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800599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Docker, Kubernetes, Cloud ML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94960"/>
            <a:ext cx="10424160" cy="658368"/>
          </a:xfrm>
          <a:prstGeom prst="roundRect">
            <a:avLst/>
          </a:prstGeom>
          <a:solidFill>
            <a:srgbClr val="E8F0FF"/>
          </a:solidFill>
          <a:ln>
            <a:solidFill>
              <a:srgbClr val="BED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504688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>
                <a:solidFill>
                  <a:srgbClr val="14213D"/>
                </a:solidFill>
                <a:latin typeface="Aptos"/>
              </a:rPr>
              <a:t>도구를 먼저 고르기보다 '우리의 운영 문제'를 먼저 정의한다.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현실적인 MLOps 도입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467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47495" y="1636776"/>
            <a:ext cx="512064" cy="512064"/>
          </a:xfrm>
          <a:prstGeom prst="ellipse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0647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467D1"/>
                </a:solidFill>
                <a:latin typeface="Aptos"/>
              </a:rP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Git + 환경 고정
실험 기록</a:t>
            </a:r>
          </a:p>
        </p:txBody>
      </p:sp>
      <p:sp>
        <p:nvSpPr>
          <p:cNvPr id="11" name="Chevron 10"/>
          <p:cNvSpPr/>
          <p:nvPr/>
        </p:nvSpPr>
        <p:spPr>
          <a:xfrm>
            <a:off x="2748686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5846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1E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7541" y="1636776"/>
            <a:ext cx="512064" cy="512064"/>
          </a:xfrm>
          <a:prstGeom prst="ellipse">
            <a:avLst/>
          </a:prstGeom>
          <a:solidFill>
            <a:srgbClr val="1E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0693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006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9691"/>
                </a:solidFill>
                <a:latin typeface="Aptos"/>
              </a:rPr>
              <a:t>2단계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0438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데이터 검증
학습 파이프라인</a:t>
            </a:r>
          </a:p>
        </p:txBody>
      </p:sp>
      <p:sp>
        <p:nvSpPr>
          <p:cNvPr id="17" name="Chevron 16"/>
          <p:cNvSpPr/>
          <p:nvPr/>
        </p:nvSpPr>
        <p:spPr>
          <a:xfrm>
            <a:off x="4948732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85892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7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47588" y="1636776"/>
            <a:ext cx="512064" cy="512064"/>
          </a:xfrm>
          <a:prstGeom prst="ellipse">
            <a:avLst/>
          </a:prstGeom>
          <a:solidFill>
            <a:srgbClr val="7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20740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457BE"/>
                </a:solidFill>
                <a:latin typeface="Aptos"/>
              </a:rPr>
              <a:t>3단계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0484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Registry +
자동 배포</a:t>
            </a:r>
          </a:p>
        </p:txBody>
      </p:sp>
      <p:sp>
        <p:nvSpPr>
          <p:cNvPr id="23" name="Chevron 22"/>
          <p:cNvSpPr/>
          <p:nvPr/>
        </p:nvSpPr>
        <p:spPr>
          <a:xfrm>
            <a:off x="7148779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85939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EE8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7634" y="1636776"/>
            <a:ext cx="512064" cy="512064"/>
          </a:xfrm>
          <a:prstGeom prst="ellipse">
            <a:avLst/>
          </a:prstGeom>
          <a:solidFill>
            <a:srgbClr val="EE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0786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3099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E8E37"/>
                </a:solidFill>
                <a:latin typeface="Aptos"/>
              </a:rPr>
              <a:t>4단계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0531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모니터링 +
재학습</a:t>
            </a:r>
          </a:p>
        </p:txBody>
      </p:sp>
      <p:sp>
        <p:nvSpPr>
          <p:cNvPr id="29" name="Chevron 28"/>
          <p:cNvSpPr/>
          <p:nvPr/>
        </p:nvSpPr>
        <p:spPr>
          <a:xfrm>
            <a:off x="9348825" y="2926080"/>
            <a:ext cx="146304" cy="411480"/>
          </a:xfrm>
          <a:prstGeom prst="chevron">
            <a:avLst/>
          </a:prstGeom>
          <a:solidFill>
            <a:srgbClr val="60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85985" y="1965960"/>
            <a:ext cx="2035454" cy="2423160"/>
          </a:xfrm>
          <a:prstGeom prst="roundRect">
            <a:avLst/>
          </a:prstGeom>
          <a:solidFill>
            <a:srgbClr val="F8F9FC"/>
          </a:solidFill>
          <a:ln w="20320">
            <a:solidFill>
              <a:srgbClr val="3B9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247680" y="1636776"/>
            <a:ext cx="512064" cy="512064"/>
          </a:xfrm>
          <a:prstGeom prst="ellipse">
            <a:avLst/>
          </a:prstGeom>
          <a:solidFill>
            <a:srgbClr val="3B9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20832" y="17007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3145" y="2286000"/>
            <a:ext cx="176113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B9B5F"/>
                </a:solidFill>
                <a:latin typeface="Aptos"/>
              </a:rPr>
              <a:t>5단계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0577" y="2880360"/>
            <a:ext cx="170627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212730"/>
                </a:solidFill>
                <a:latin typeface="Aptos"/>
              </a:rPr>
              <a:t>플랫폼화
표준·거버넌스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운영 가능한 ML 시스템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508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운영 모델의 코드·데이터·환경 버전을 추적할 수 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67128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학습 파이프라인을 동일한 입력으로 다시 실행할 수 있는가?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25496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새 모델이 기존 모델보다 나쁜 경우 배포를 막을 수 있는가?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83863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483863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운영 중 데이터·모델 성능 이상을 감지할 수 있는가?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2231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142231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문제 발생 시 이전 모델로 빠르게 롤백할 수 있는가?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599"/>
            <a:ext cx="320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467D1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800599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0">
                <a:solidFill>
                  <a:srgbClr val="212730"/>
                </a:solidFill>
                <a:latin typeface="Aptos"/>
              </a:rPr>
              <a:t>재학습이 필요한 조건과 책임자가 정의되어 있는가?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4213D"/>
                </a:solidFill>
                <a:latin typeface="Aptos"/>
              </a:rPr>
              <a:t>오늘의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207008"/>
            <a:ext cx="10972800" cy="36576"/>
          </a:xfrm>
          <a:prstGeom prst="rect">
            <a:avLst/>
          </a:prstGeom>
          <a:solidFill>
            <a:srgbClr val="346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508760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MLOps는 모델이 아니라 ML 시스템의 생명주기를 관리한다.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67128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재현성의 핵심은 코드·데이터·환경·실험·모델의 연결이다.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25496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25496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CI/CD에 데이터·모델 검증과 CT가 추가된다.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3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483863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배포 후에는 시스템·데이터·모델·비즈니스 지표를 함께 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331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3467D1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142231"/>
            <a:ext cx="80924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212730"/>
                </a:solidFill>
                <a:latin typeface="Aptos"/>
              </a:rPr>
              <a:t>도구보다 프로세스와 운영 문제를 먼저 정의한다.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6446520"/>
            <a:ext cx="64008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606C7D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1866</Words>
  <Application>Microsoft Office PowerPoint</Application>
  <PresentationFormat>와이드스크린</PresentationFormat>
  <Paragraphs>584</Paragraphs>
  <Slides>41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Aptos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</cp:lastModifiedBy>
  <cp:revision>27</cp:revision>
  <dcterms:created xsi:type="dcterms:W3CDTF">2013-01-27T09:14:16Z</dcterms:created>
  <dcterms:modified xsi:type="dcterms:W3CDTF">2026-08-26T07:23:34Z</dcterms:modified>
  <cp:category/>
</cp:coreProperties>
</file>